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5" d="100"/>
          <a:sy n="155" d="100"/>
        </p:scale>
        <p:origin x="42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334155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334155"/>
                </a:solidFill>
                <a:latin typeface="Arial"/>
              </a:rPr>
              <a:t>Combinaciones por Nivel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Itemsets por nivel</c:v>
                </c:pt>
              </c:strCache>
            </c:strRef>
          </c:tx>
          <c:spPr>
            <a:solidFill>
              <a:srgbClr val="0EA5E9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673-E841-9AC3-66B6983263AC}"/>
              </c:ext>
            </c:extLst>
          </c:dPt>
          <c:dPt>
            <c:idx val="1"/>
            <c:invertIfNegative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673-E841-9AC3-66B6983263AC}"/>
              </c:ext>
            </c:extLst>
          </c:dPt>
          <c:dPt>
            <c:idx val="2"/>
            <c:invertIfNegative val="0"/>
            <c:bubble3D val="0"/>
            <c:spPr>
              <a:solidFill>
                <a:srgbClr val="818CF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673-E841-9AC3-66B6983263AC}"/>
              </c:ext>
            </c:extLst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673-E841-9AC3-66B6983263AC}"/>
              </c:ext>
            </c:extLst>
          </c:dPt>
          <c:dPt>
            <c:idx val="4"/>
            <c:invertIfNegative val="0"/>
            <c:bubble3D val="0"/>
            <c:spPr>
              <a:solidFill>
                <a:srgbClr val="F9731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9673-E841-9AC3-66B6983263A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419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Nivel 1</c:v>
                </c:pt>
                <c:pt idx="1">
                  <c:v>Nivel 2</c:v>
                </c:pt>
                <c:pt idx="2">
                  <c:v>Nivel 3</c:v>
                </c:pt>
                <c:pt idx="3">
                  <c:v>Nivel 4</c:v>
                </c:pt>
                <c:pt idx="4">
                  <c:v>Nivel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</c:v>
                </c:pt>
                <c:pt idx="1">
                  <c:v>45</c:v>
                </c:pt>
                <c:pt idx="2">
                  <c:v>120</c:v>
                </c:pt>
                <c:pt idx="3">
                  <c:v>210</c:v>
                </c:pt>
                <c:pt idx="4">
                  <c:v>252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9673-E841-9AC3-66B6983263A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3257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Canasta Básica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mediante Minería de Datos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Itemsets Frecuentes · Reglas de Asociación · KNN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8046720" cy="0"/>
          </a:xfrm>
          <a:prstGeom prst="line">
            <a:avLst/>
          </a:prstGeom>
          <a:noFill/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7" name="Text 5"/>
          <p:cNvSpPr/>
          <p:nvPr/>
        </p:nvSpPr>
        <p:spPr>
          <a:xfrm>
            <a:off x="548640" y="310896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ASIGNATURA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" y="331012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Administración de Bases de Datos Corporativas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361188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CARRERA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48640" y="38130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en Sistemas Computacionales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0" y="310896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PROFESOR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846320" y="331012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Hernández Marín Juan Carlos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361188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846320" y="38130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Abril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PROBLEMÁTICA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320040"/>
            <a:ext cx="73152" cy="4114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4" name="Text 2"/>
          <p:cNvSpPr/>
          <p:nvPr/>
        </p:nvSpPr>
        <p:spPr>
          <a:xfrm>
            <a:off x="64008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problema enfrentamos?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sector retail, los supermercados generan miles de transacciones diarias sin aprovechar esa información para entender el comportamiento de compra.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4114800" cy="12344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419"/>
          </a:p>
        </p:txBody>
      </p:sp>
      <p:sp>
        <p:nvSpPr>
          <p:cNvPr id="7" name="Text 5"/>
          <p:cNvSpPr/>
          <p:nvPr/>
        </p:nvSpPr>
        <p:spPr>
          <a:xfrm>
            <a:off x="640080" y="17556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Productos Ignorados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sabe qué categorías se compran juntas con mayor frecuencia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00600" y="1645920"/>
            <a:ext cx="4114800" cy="12344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419"/>
          </a:p>
        </p:txBody>
      </p:sp>
      <p:sp>
        <p:nvSpPr>
          <p:cNvPr id="10" name="Text 8"/>
          <p:cNvSpPr/>
          <p:nvPr/>
        </p:nvSpPr>
        <p:spPr>
          <a:xfrm>
            <a:off x="4983480" y="17556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Sin Segmentación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83480" y="21031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 clasificación de clientes por nivel de gasto para trato diferenciado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4114800" cy="12344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419"/>
          </a:p>
        </p:txBody>
      </p:sp>
      <p:sp>
        <p:nvSpPr>
          <p:cNvPr id="13" name="Text 11"/>
          <p:cNvSpPr/>
          <p:nvPr/>
        </p:nvSpPr>
        <p:spPr>
          <a:xfrm>
            <a:off x="640080" y="321868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Sin Recomendaciones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356616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sistema que sugiera categorías que el cliente aún no ha explorado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00600" y="3108960"/>
            <a:ext cx="4114800" cy="12344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419"/>
          </a:p>
        </p:txBody>
      </p:sp>
      <p:sp>
        <p:nvSpPr>
          <p:cNvPr id="16" name="Text 14"/>
          <p:cNvSpPr/>
          <p:nvPr/>
        </p:nvSpPr>
        <p:spPr>
          <a:xfrm>
            <a:off x="4983480" y="321868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Decisiones Empíricas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83480" y="356616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Promociones, combos y ubicación en estantes se deciden por intuición, no por datos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PROBLEMÁTICA · SOLUCIÓN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se construyó?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4114800" cy="105156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419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64008" cy="10515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Base de datos PostgreSQL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58191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tablas relacionadas: artículos, ventas, detalle_ventas, transacciones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800600" y="1143000"/>
            <a:ext cx="4114800" cy="105156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419"/>
          </a:p>
        </p:txBody>
      </p:sp>
      <p:sp>
        <p:nvSpPr>
          <p:cNvPr id="9" name="Shape 7"/>
          <p:cNvSpPr/>
          <p:nvPr/>
        </p:nvSpPr>
        <p:spPr>
          <a:xfrm>
            <a:off x="4800600" y="1143000"/>
            <a:ext cx="64008" cy="10515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10" name="Text 8"/>
          <p:cNvSpPr/>
          <p:nvPr/>
        </p:nvSpPr>
        <p:spPr>
          <a:xfrm>
            <a:off x="4983480" y="12344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9,996 productos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83480" y="158191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canasta básica filtrado de un dataset real de 27,555 productos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350008"/>
            <a:ext cx="4114800" cy="105156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419"/>
          </a:p>
        </p:txBody>
      </p:sp>
      <p:sp>
        <p:nvSpPr>
          <p:cNvPr id="13" name="Shape 11"/>
          <p:cNvSpPr/>
          <p:nvPr/>
        </p:nvSpPr>
        <p:spPr>
          <a:xfrm>
            <a:off x="457200" y="2350008"/>
            <a:ext cx="64008" cy="10515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14" name="Text 12"/>
          <p:cNvSpPr/>
          <p:nvPr/>
        </p:nvSpPr>
        <p:spPr>
          <a:xfrm>
            <a:off x="640080" y="24414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400,000 transacciones sintéticas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27889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10–25 productos c/u y mínimo 5 categorías diferentes por ticket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800600" y="2350008"/>
            <a:ext cx="4114800" cy="105156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419"/>
          </a:p>
        </p:txBody>
      </p:sp>
      <p:sp>
        <p:nvSpPr>
          <p:cNvPr id="17" name="Shape 15"/>
          <p:cNvSpPr/>
          <p:nvPr/>
        </p:nvSpPr>
        <p:spPr>
          <a:xfrm>
            <a:off x="4800600" y="2350008"/>
            <a:ext cx="64008" cy="10515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18" name="Text 16"/>
          <p:cNvSpPr/>
          <p:nvPr/>
        </p:nvSpPr>
        <p:spPr>
          <a:xfrm>
            <a:off x="4983480" y="24414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637 itemsets frecuentes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83480" y="27889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Niveles 1 a 5 y 90 reglas de asociación con soporte, confianza y lift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557016"/>
            <a:ext cx="4114800" cy="105156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419"/>
          </a:p>
        </p:txBody>
      </p:sp>
      <p:sp>
        <p:nvSpPr>
          <p:cNvPr id="21" name="Shape 19"/>
          <p:cNvSpPr/>
          <p:nvPr/>
        </p:nvSpPr>
        <p:spPr>
          <a:xfrm>
            <a:off x="457200" y="3557016"/>
            <a:ext cx="64008" cy="10515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22" name="Text 20"/>
          <p:cNvSpPr/>
          <p:nvPr/>
        </p:nvSpPr>
        <p:spPr>
          <a:xfrm>
            <a:off x="640080" y="364845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KNN Euclidiana + Hamming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399592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de clientes y sistema de recomendación de categorías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00600" y="3557016"/>
            <a:ext cx="4114800" cy="105156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419"/>
          </a:p>
        </p:txBody>
      </p:sp>
      <p:sp>
        <p:nvSpPr>
          <p:cNvPr id="25" name="Shape 23"/>
          <p:cNvSpPr/>
          <p:nvPr/>
        </p:nvSpPr>
        <p:spPr>
          <a:xfrm>
            <a:off x="4800600" y="3557016"/>
            <a:ext cx="64008" cy="10515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26" name="Text 24"/>
          <p:cNvSpPr/>
          <p:nvPr/>
        </p:nvSpPr>
        <p:spPr>
          <a:xfrm>
            <a:off x="4983480" y="364845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Dashboard web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83480" y="399592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3 pestañas interactivas, 14 gráficas y visualizaciones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320040"/>
            <a:ext cx="73152" cy="4114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4" name="Text 2"/>
          <p:cNvSpPr/>
          <p:nvPr/>
        </p:nvSpPr>
        <p:spPr>
          <a:xfrm>
            <a:off x="64008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del Proyecto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777240"/>
          </a:xfrm>
          <a:prstGeom prst="rect">
            <a:avLst/>
          </a:prstGeom>
          <a:solidFill>
            <a:srgbClr val="0F172A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419"/>
          </a:p>
        </p:txBody>
      </p:sp>
      <p:sp>
        <p:nvSpPr>
          <p:cNvPr id="6" name="Text 4"/>
          <p:cNvSpPr/>
          <p:nvPr/>
        </p:nvSpPr>
        <p:spPr>
          <a:xfrm>
            <a:off x="640080" y="1024128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26187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patrones de compra en transacciones de supermercado mediante técnicas de minería de datos y aprendizaje automático.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075688"/>
            <a:ext cx="292608" cy="2926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9" name="Text 7"/>
          <p:cNvSpPr/>
          <p:nvPr/>
        </p:nvSpPr>
        <p:spPr>
          <a:xfrm>
            <a:off x="457200" y="2075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19659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Descubrir qué combinaciones de categorías se compran juntas (itemsets de 1 a 5 categorías)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624328"/>
            <a:ext cx="292608" cy="2926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12" name="Text 10"/>
          <p:cNvSpPr/>
          <p:nvPr/>
        </p:nvSpPr>
        <p:spPr>
          <a:xfrm>
            <a:off x="457200" y="2624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25146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la fuerza de asociación usando soporte, confianza y lift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172968"/>
            <a:ext cx="292608" cy="2926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15" name="Text 13"/>
          <p:cNvSpPr/>
          <p:nvPr/>
        </p:nvSpPr>
        <p:spPr>
          <a:xfrm>
            <a:off x="457200" y="31729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14400" y="30632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Clasificar clientes automáticamente en Gasto Alto o Gasto Bajo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721608"/>
            <a:ext cx="292608" cy="2926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18" name="Text 16"/>
          <p:cNvSpPr/>
          <p:nvPr/>
        </p:nvSpPr>
        <p:spPr>
          <a:xfrm>
            <a:off x="457200" y="3721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14400" y="3611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Recomendar categorías de productos según comportamiento de clientes similares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270248"/>
            <a:ext cx="292608" cy="2926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21" name="Text 19"/>
          <p:cNvSpPr/>
          <p:nvPr/>
        </p:nvSpPr>
        <p:spPr>
          <a:xfrm>
            <a:off x="457200" y="42702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14400" y="41605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Visualizar resultados en gráficas y un dashboard web interactivo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 TEÓRICO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Conceptos: Base de Datos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15544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419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114800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6" name="Text 4"/>
          <p:cNvSpPr/>
          <p:nvPr/>
        </p:nvSpPr>
        <p:spPr>
          <a:xfrm>
            <a:off x="594360" y="12618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69164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que almacena datos interrelacionados con operaciones CRUD controladas. En este proyecto: PostgreSQL en Docker.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00600" y="1188720"/>
            <a:ext cx="4114800" cy="15544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419"/>
          </a:p>
        </p:txBody>
      </p:sp>
      <p:sp>
        <p:nvSpPr>
          <p:cNvPr id="9" name="Shape 7"/>
          <p:cNvSpPr/>
          <p:nvPr/>
        </p:nvSpPr>
        <p:spPr>
          <a:xfrm>
            <a:off x="4800600" y="1188720"/>
            <a:ext cx="4114800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10" name="Text 8"/>
          <p:cNvSpPr/>
          <p:nvPr/>
        </p:nvSpPr>
        <p:spPr>
          <a:xfrm>
            <a:off x="4937760" y="12618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 Corporativa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169164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Soporta múltiples usuarios concurrentes con integridad referencial, transacciones ACID y escalabilidad para millones de registros.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4114800" cy="15544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419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4114800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14" name="Text 12"/>
          <p:cNvSpPr/>
          <p:nvPr/>
        </p:nvSpPr>
        <p:spPr>
          <a:xfrm>
            <a:off x="594360" y="29992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342900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histórico centralizado optimizado para consultas OLAP, alimentado por procesos ETL (Extract, Transform, Load).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00600" y="2926080"/>
            <a:ext cx="4114800" cy="15544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419"/>
          </a:p>
        </p:txBody>
      </p:sp>
      <p:sp>
        <p:nvSpPr>
          <p:cNvPr id="17" name="Shape 15"/>
          <p:cNvSpPr/>
          <p:nvPr/>
        </p:nvSpPr>
        <p:spPr>
          <a:xfrm>
            <a:off x="4800600" y="2926080"/>
            <a:ext cx="4114800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18" name="Text 16"/>
          <p:cNvSpPr/>
          <p:nvPr/>
        </p:nvSpPr>
        <p:spPr>
          <a:xfrm>
            <a:off x="4937760" y="29992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Nuestro ETL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342900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→ transformación con 5 pasos en Python/Pandas → carga a PostgreSQL. Las consultas de itemsets funcionan como OLAP sobre datos históricos.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 TEÓRICO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320040"/>
            <a:ext cx="73152" cy="4114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4" name="Text 2"/>
          <p:cNvSpPr/>
          <p:nvPr/>
        </p:nvSpPr>
        <p:spPr>
          <a:xfrm>
            <a:off x="64008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Empleados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419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73152" cy="8229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7" name="Shape 5"/>
          <p:cNvSpPr/>
          <p:nvPr/>
        </p:nvSpPr>
        <p:spPr>
          <a:xfrm>
            <a:off x="7223760" y="1097280"/>
            <a:ext cx="1371600" cy="2560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8" name="Text 6"/>
          <p:cNvSpPr/>
          <p:nvPr/>
        </p:nvSpPr>
        <p:spPr>
          <a:xfrm>
            <a:off x="7223760" y="10972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85800" y="107899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Basket Analysis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138988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Descubre asociaciones entre productos. Métricas: Soporte (frecuencia), Confianza (probabilidad condicional) y Lift (fuerza vs. azar).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965960"/>
            <a:ext cx="8229600" cy="8229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419"/>
          </a:p>
        </p:txBody>
      </p:sp>
      <p:sp>
        <p:nvSpPr>
          <p:cNvPr id="12" name="Shape 10"/>
          <p:cNvSpPr/>
          <p:nvPr/>
        </p:nvSpPr>
        <p:spPr>
          <a:xfrm>
            <a:off x="457200" y="1965960"/>
            <a:ext cx="73152" cy="8229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13" name="Shape 11"/>
          <p:cNvSpPr/>
          <p:nvPr/>
        </p:nvSpPr>
        <p:spPr>
          <a:xfrm>
            <a:off x="7223760" y="2057400"/>
            <a:ext cx="1371600" cy="2560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14" name="Text 12"/>
          <p:cNvSpPr/>
          <p:nvPr/>
        </p:nvSpPr>
        <p:spPr>
          <a:xfrm>
            <a:off x="7223760" y="20574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Itemsets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85800" y="203911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Apriori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" y="235000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conjuntos frecuentes iterativamente: identifica ítems individuales, los combina en pares, tríos... y poda los que no cumplen soporte mínimo.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926080"/>
            <a:ext cx="8229600" cy="8229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419"/>
          </a:p>
        </p:txBody>
      </p:sp>
      <p:sp>
        <p:nvSpPr>
          <p:cNvPr id="18" name="Shape 16"/>
          <p:cNvSpPr/>
          <p:nvPr/>
        </p:nvSpPr>
        <p:spPr>
          <a:xfrm>
            <a:off x="457200" y="2926080"/>
            <a:ext cx="73152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19" name="Shape 17"/>
          <p:cNvSpPr/>
          <p:nvPr/>
        </p:nvSpPr>
        <p:spPr>
          <a:xfrm>
            <a:off x="7223760" y="3017520"/>
            <a:ext cx="1371600" cy="2560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20" name="Text 18"/>
          <p:cNvSpPr/>
          <p:nvPr/>
        </p:nvSpPr>
        <p:spPr>
          <a:xfrm>
            <a:off x="7223760" y="30175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85800" y="299923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— K-Nearest Neighbors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800" y="331012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 un dato buscando los K elementos más similares. Variantes: Distancia Euclidiana (clasificación) y Distancia de Hamming (recomendación).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886200"/>
            <a:ext cx="8229600" cy="8229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419"/>
          </a:p>
        </p:txBody>
      </p:sp>
      <p:sp>
        <p:nvSpPr>
          <p:cNvPr id="24" name="Shape 22"/>
          <p:cNvSpPr/>
          <p:nvPr/>
        </p:nvSpPr>
        <p:spPr>
          <a:xfrm>
            <a:off x="457200" y="3886200"/>
            <a:ext cx="73152" cy="8229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25" name="Shape 23"/>
          <p:cNvSpPr/>
          <p:nvPr/>
        </p:nvSpPr>
        <p:spPr>
          <a:xfrm>
            <a:off x="7223760" y="3977640"/>
            <a:ext cx="1371600" cy="2560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26" name="Text 24"/>
          <p:cNvSpPr/>
          <p:nvPr/>
        </p:nvSpPr>
        <p:spPr>
          <a:xfrm>
            <a:off x="7223760" y="39776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85800" y="395935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— Support Vector Machines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85800" y="427024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el hiperplano óptimo que separa clases. Requiere datos numéricos normalizados y variable objetivo definida.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DE DATOS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BigBasket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0" cy="36576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419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BigBasket Entire Product List (Kaggle)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supermercado online de India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27,555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45920" y="2011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 totales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51460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45920" y="2560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columnas (product, category, brand, sale_price…)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306324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45920" y="3108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categorías originales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6118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2,313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45920" y="3657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marcas únicas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41605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0–5 ★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45920" y="4206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(31% sin calificar)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00600" y="1097280"/>
            <a:ext cx="4114800" cy="36576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419"/>
          </a:p>
        </p:txBody>
      </p:sp>
      <p:sp>
        <p:nvSpPr>
          <p:cNvPr id="18" name="Shape 16"/>
          <p:cNvSpPr/>
          <p:nvPr/>
        </p:nvSpPr>
        <p:spPr>
          <a:xfrm>
            <a:off x="4800600" y="1097280"/>
            <a:ext cx="4114800" cy="347472"/>
          </a:xfrm>
          <a:prstGeom prst="rect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19" name="Text 17"/>
          <p:cNvSpPr/>
          <p:nvPr/>
        </p:nvSpPr>
        <p:spPr>
          <a:xfrm>
            <a:off x="4937760" y="11338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¿Por qué NO PROFECO (México)?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83480" y="155448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segmentado por estado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43% de artículos irrelevantes (medicamentos, juguetes, electrónicos)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624 productos únicos — muestra insuficiente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00600" y="3063240"/>
            <a:ext cx="4114800" cy="347472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22" name="Text 20"/>
          <p:cNvSpPr/>
          <p:nvPr/>
        </p:nvSpPr>
        <p:spPr>
          <a:xfrm>
            <a:off x="4937760" y="3108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Por qué SÍ BigBasket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83480" y="352044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27,555 productos diversificados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Precios de venta y mercado (descuentos)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Categorías representativas de consumo diario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DE DATOS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320040"/>
            <a:ext cx="73152" cy="4114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4" name="Text 2"/>
          <p:cNvSpPr/>
          <p:nvPr/>
        </p:nvSpPr>
        <p:spPr>
          <a:xfrm>
            <a:off x="64008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de Limpieza — 5 Pasos (Limpieza.py)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502920" cy="502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04088" y="1508760"/>
            <a:ext cx="0" cy="256032"/>
          </a:xfrm>
          <a:prstGeom prst="line">
            <a:avLst/>
          </a:prstGeom>
          <a:noFill/>
          <a:ln w="1905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8" name="Shape 6"/>
          <p:cNvSpPr/>
          <p:nvPr/>
        </p:nvSpPr>
        <p:spPr>
          <a:xfrm>
            <a:off x="1143000" y="1005840"/>
            <a:ext cx="7498080" cy="5943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419"/>
          </a:p>
        </p:txBody>
      </p:sp>
      <p:sp>
        <p:nvSpPr>
          <p:cNvPr id="9" name="Text 7"/>
          <p:cNvSpPr/>
          <p:nvPr/>
        </p:nvSpPr>
        <p:spPr>
          <a:xfrm>
            <a:off x="1325880" y="10515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25880" y="130759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leído y limpieza de espacios con str.strip()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764792"/>
            <a:ext cx="502920" cy="502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12" name="Text 10"/>
          <p:cNvSpPr/>
          <p:nvPr/>
        </p:nvSpPr>
        <p:spPr>
          <a:xfrm>
            <a:off x="457200" y="1764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04088" y="2267712"/>
            <a:ext cx="0" cy="256032"/>
          </a:xfrm>
          <a:prstGeom prst="line">
            <a:avLst/>
          </a:prstGeom>
          <a:noFill/>
          <a:ln w="1905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14" name="Shape 12"/>
          <p:cNvSpPr/>
          <p:nvPr/>
        </p:nvSpPr>
        <p:spPr>
          <a:xfrm>
            <a:off x="1143000" y="1764792"/>
            <a:ext cx="7498080" cy="5943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419"/>
          </a:p>
        </p:txBody>
      </p:sp>
      <p:sp>
        <p:nvSpPr>
          <p:cNvPr id="15" name="Text 13"/>
          <p:cNvSpPr/>
          <p:nvPr/>
        </p:nvSpPr>
        <p:spPr>
          <a:xfrm>
            <a:off x="1325880" y="18105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por Categoría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25880" y="2066544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categorías completas incluidas; cosméticos, mascotas, jardinería excluidos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523744"/>
            <a:ext cx="502920" cy="502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18" name="Text 16"/>
          <p:cNvSpPr/>
          <p:nvPr/>
        </p:nvSpPr>
        <p:spPr>
          <a:xfrm>
            <a:off x="457200" y="25237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04088" y="3026664"/>
            <a:ext cx="0" cy="256032"/>
          </a:xfrm>
          <a:prstGeom prst="line">
            <a:avLst/>
          </a:prstGeom>
          <a:noFill/>
          <a:ln w="1905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20" name="Shape 18"/>
          <p:cNvSpPr/>
          <p:nvPr/>
        </p:nvSpPr>
        <p:spPr>
          <a:xfrm>
            <a:off x="1143000" y="2523744"/>
            <a:ext cx="7498080" cy="5943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419"/>
          </a:p>
        </p:txBody>
      </p:sp>
      <p:sp>
        <p:nvSpPr>
          <p:cNvPr id="21" name="Text 19"/>
          <p:cNvSpPr/>
          <p:nvPr/>
        </p:nvSpPr>
        <p:spPr>
          <a:xfrm>
            <a:off x="1325880" y="25694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por Precio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25880" y="2825496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Eliminados: precio &gt; 2,000 o precio = 0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282696"/>
            <a:ext cx="502920" cy="502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24" name="Text 22"/>
          <p:cNvSpPr/>
          <p:nvPr/>
        </p:nvSpPr>
        <p:spPr>
          <a:xfrm>
            <a:off x="457200" y="32826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04088" y="3785616"/>
            <a:ext cx="0" cy="256032"/>
          </a:xfrm>
          <a:prstGeom prst="line">
            <a:avLst/>
          </a:prstGeom>
          <a:noFill/>
          <a:ln w="1905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26" name="Shape 24"/>
          <p:cNvSpPr/>
          <p:nvPr/>
        </p:nvSpPr>
        <p:spPr>
          <a:xfrm>
            <a:off x="1143000" y="3282696"/>
            <a:ext cx="7498080" cy="5943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419"/>
          </a:p>
        </p:txBody>
      </p:sp>
      <p:sp>
        <p:nvSpPr>
          <p:cNvPr id="27" name="Text 25"/>
          <p:cNvSpPr/>
          <p:nvPr/>
        </p:nvSpPr>
        <p:spPr>
          <a:xfrm>
            <a:off x="1325880" y="33284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 y Deduplicación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325880" y="358444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Duplicados por (producto, marca, precio) eliminados; ratings nulos → 0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4041648"/>
            <a:ext cx="502920" cy="502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30" name="Text 28"/>
          <p:cNvSpPr/>
          <p:nvPr/>
        </p:nvSpPr>
        <p:spPr>
          <a:xfrm>
            <a:off x="457200" y="40416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143000" y="4041648"/>
            <a:ext cx="7498080" cy="5943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419"/>
          </a:p>
        </p:txBody>
      </p:sp>
      <p:sp>
        <p:nvSpPr>
          <p:cNvPr id="32" name="Text 30"/>
          <p:cNvSpPr/>
          <p:nvPr/>
        </p:nvSpPr>
        <p:spPr>
          <a:xfrm>
            <a:off x="1325880" y="40873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Muestreo Estratificado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325880" y="434340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a ~10,000 manteniendo proporción por categoría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35" name="Text 33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27,555  →  15,318  →  15,221  →  14,613  →  9,996 productos finales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DE DATOS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9,996 Productos en 10 Categorías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527048"/>
            <a:ext cx="4114800" cy="2011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5" name="Shape 3"/>
          <p:cNvSpPr/>
          <p:nvPr/>
        </p:nvSpPr>
        <p:spPr>
          <a:xfrm>
            <a:off x="457200" y="1527048"/>
            <a:ext cx="3474720" cy="2011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6" name="Text 4"/>
          <p:cNvSpPr/>
          <p:nvPr/>
        </p:nvSpPr>
        <p:spPr>
          <a:xfrm>
            <a:off x="457200" y="121615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Snacks &amp; Branded Foods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520440" y="121615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1,854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76479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 marcas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2231136"/>
            <a:ext cx="4114800" cy="2011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10" name="Shape 8"/>
          <p:cNvSpPr/>
          <p:nvPr/>
        </p:nvSpPr>
        <p:spPr>
          <a:xfrm>
            <a:off x="457200" y="2231136"/>
            <a:ext cx="3351024" cy="20116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11" name="Text 9"/>
          <p:cNvSpPr/>
          <p:nvPr/>
        </p:nvSpPr>
        <p:spPr>
          <a:xfrm>
            <a:off x="457200" y="19202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 &amp; Hygiene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520440" y="19202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1,788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246888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298 marcas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2935224"/>
            <a:ext cx="4114800" cy="2011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15" name="Shape 13"/>
          <p:cNvSpPr/>
          <p:nvPr/>
        </p:nvSpPr>
        <p:spPr>
          <a:xfrm>
            <a:off x="457200" y="2935224"/>
            <a:ext cx="3221706" cy="20116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16" name="Text 14"/>
          <p:cNvSpPr/>
          <p:nvPr/>
        </p:nvSpPr>
        <p:spPr>
          <a:xfrm>
            <a:off x="457200" y="262432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Foodgrains, Oil &amp; Masala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520440" y="26243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1,719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317296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206 marcas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" y="3639312"/>
            <a:ext cx="4114800" cy="2011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20" name="Shape 18"/>
          <p:cNvSpPr/>
          <p:nvPr/>
        </p:nvSpPr>
        <p:spPr>
          <a:xfrm>
            <a:off x="457200" y="3639312"/>
            <a:ext cx="3098011" cy="2011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21" name="Text 19"/>
          <p:cNvSpPr/>
          <p:nvPr/>
        </p:nvSpPr>
        <p:spPr>
          <a:xfrm>
            <a:off x="457200" y="332841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Gourmet &amp; World Food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520440" y="33284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1,653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" y="387705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273 marcas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57200" y="4343400"/>
            <a:ext cx="4114800" cy="2011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25" name="Shape 23"/>
          <p:cNvSpPr/>
          <p:nvPr/>
        </p:nvSpPr>
        <p:spPr>
          <a:xfrm>
            <a:off x="457200" y="4343400"/>
            <a:ext cx="1909784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26" name="Text 24"/>
          <p:cNvSpPr/>
          <p:nvPr/>
        </p:nvSpPr>
        <p:spPr>
          <a:xfrm>
            <a:off x="457200" y="403250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&amp; Household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520440" y="403250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1,019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" y="458114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222 marcas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800600" y="1527048"/>
            <a:ext cx="4114800" cy="2011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30" name="Shape 28"/>
          <p:cNvSpPr/>
          <p:nvPr/>
        </p:nvSpPr>
        <p:spPr>
          <a:xfrm>
            <a:off x="4800600" y="1527048"/>
            <a:ext cx="1107637" cy="201168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31" name="Text 29"/>
          <p:cNvSpPr/>
          <p:nvPr/>
        </p:nvSpPr>
        <p:spPr>
          <a:xfrm>
            <a:off x="4800600" y="121615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Beverages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863840" y="121615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591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46320" y="176479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152 marcas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800600" y="2231136"/>
            <a:ext cx="4114800" cy="2011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35" name="Shape 33"/>
          <p:cNvSpPr/>
          <p:nvPr/>
        </p:nvSpPr>
        <p:spPr>
          <a:xfrm>
            <a:off x="4800600" y="2231136"/>
            <a:ext cx="1049538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36" name="Text 34"/>
          <p:cNvSpPr/>
          <p:nvPr/>
        </p:nvSpPr>
        <p:spPr>
          <a:xfrm>
            <a:off x="4800600" y="19202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Bakery, Cakes &amp; Dairy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863840" y="19202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560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46320" y="246888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 marcas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800600" y="2935224"/>
            <a:ext cx="4114800" cy="2011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40" name="Shape 38"/>
          <p:cNvSpPr/>
          <p:nvPr/>
        </p:nvSpPr>
        <p:spPr>
          <a:xfrm>
            <a:off x="4800600" y="2935224"/>
            <a:ext cx="612855" cy="20116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41" name="Text 39"/>
          <p:cNvSpPr/>
          <p:nvPr/>
        </p:nvSpPr>
        <p:spPr>
          <a:xfrm>
            <a:off x="4800600" y="262432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Baby Care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863840" y="26243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327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846320" y="317296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marcas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800600" y="3639312"/>
            <a:ext cx="4114800" cy="2011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45" name="Shape 43"/>
          <p:cNvSpPr/>
          <p:nvPr/>
        </p:nvSpPr>
        <p:spPr>
          <a:xfrm>
            <a:off x="4800600" y="3639312"/>
            <a:ext cx="468544" cy="20116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46" name="Text 44"/>
          <p:cNvSpPr/>
          <p:nvPr/>
        </p:nvSpPr>
        <p:spPr>
          <a:xfrm>
            <a:off x="4800600" y="332841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Fruits &amp; Vegetables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7863840" y="33284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846320" y="387705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marcas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800600" y="4343400"/>
            <a:ext cx="4114800" cy="2011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50" name="Shape 48"/>
          <p:cNvSpPr/>
          <p:nvPr/>
        </p:nvSpPr>
        <p:spPr>
          <a:xfrm>
            <a:off x="4800600" y="4343400"/>
            <a:ext cx="440431" cy="20116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51" name="Text 49"/>
          <p:cNvSpPr/>
          <p:nvPr/>
        </p:nvSpPr>
        <p:spPr>
          <a:xfrm>
            <a:off x="4800600" y="403250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Eggs, Meat &amp; Fish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7863840" y="403250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235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846320" y="458114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marcas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55" name="Text 53"/>
          <p:cNvSpPr/>
          <p:nvPr/>
        </p:nvSpPr>
        <p:spPr>
          <a:xfrm>
            <a:off x="457200" y="47731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457200" y="50292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Subcategorías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3200400" y="47731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1,362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3200400" y="50292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Marcas únicas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943600" y="47731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₹2.45–2,000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5943600" y="50292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 de precios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320040"/>
            <a:ext cx="73152" cy="4114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4" name="Text 2"/>
          <p:cNvSpPr/>
          <p:nvPr/>
        </p:nvSpPr>
        <p:spPr>
          <a:xfrm>
            <a:off x="64008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del Proyecto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651760" cy="9601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419"/>
          </a:p>
        </p:txBody>
      </p:sp>
      <p:sp>
        <p:nvSpPr>
          <p:cNvPr id="6" name="Text 4"/>
          <p:cNvSpPr/>
          <p:nvPr/>
        </p:nvSpPr>
        <p:spPr>
          <a:xfrm>
            <a:off x="548640" y="1078992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BigBasket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27,555 productos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783080" y="1965960"/>
            <a:ext cx="0" cy="301752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8" name="Shape 6"/>
          <p:cNvSpPr/>
          <p:nvPr/>
        </p:nvSpPr>
        <p:spPr>
          <a:xfrm>
            <a:off x="457200" y="2267712"/>
            <a:ext cx="2651760" cy="9601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419"/>
          </a:p>
        </p:txBody>
      </p:sp>
      <p:sp>
        <p:nvSpPr>
          <p:cNvPr id="9" name="Text 7"/>
          <p:cNvSpPr/>
          <p:nvPr/>
        </p:nvSpPr>
        <p:spPr>
          <a:xfrm>
            <a:off x="548640" y="2340864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Limpieza.py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pasos de filtrado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783080" y="3227832"/>
            <a:ext cx="0" cy="301752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11" name="Shape 9"/>
          <p:cNvSpPr/>
          <p:nvPr/>
        </p:nvSpPr>
        <p:spPr>
          <a:xfrm>
            <a:off x="457200" y="3529584"/>
            <a:ext cx="2651760" cy="96012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419"/>
          </a:p>
        </p:txBody>
      </p:sp>
      <p:sp>
        <p:nvSpPr>
          <p:cNvPr id="12" name="Text 10"/>
          <p:cNvSpPr/>
          <p:nvPr/>
        </p:nvSpPr>
        <p:spPr>
          <a:xfrm>
            <a:off x="548640" y="3602736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9,996 productos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limpios → PostgreSQL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08960" y="1481328"/>
            <a:ext cx="2286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14" name="Shape 12"/>
          <p:cNvSpPr/>
          <p:nvPr/>
        </p:nvSpPr>
        <p:spPr>
          <a:xfrm>
            <a:off x="3337560" y="1005840"/>
            <a:ext cx="2651760" cy="960120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419"/>
          </a:p>
        </p:txBody>
      </p:sp>
      <p:sp>
        <p:nvSpPr>
          <p:cNvPr id="15" name="Text 13"/>
          <p:cNvSpPr/>
          <p:nvPr/>
        </p:nvSpPr>
        <p:spPr>
          <a:xfrm>
            <a:off x="3429000" y="1078992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generar_transacciones.py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400K ventas · 6.8M detalles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1965960"/>
            <a:ext cx="0" cy="301752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17" name="Shape 15"/>
          <p:cNvSpPr/>
          <p:nvPr/>
        </p:nvSpPr>
        <p:spPr>
          <a:xfrm>
            <a:off x="3337560" y="2267712"/>
            <a:ext cx="2651760" cy="96012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419"/>
          </a:p>
        </p:txBody>
      </p:sp>
      <p:sp>
        <p:nvSpPr>
          <p:cNvPr id="18" name="Text 16"/>
          <p:cNvSpPr/>
          <p:nvPr/>
        </p:nvSpPr>
        <p:spPr>
          <a:xfrm>
            <a:off x="3429000" y="2340864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itemsets.py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637 combinaciones niv. 1–5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3227832"/>
            <a:ext cx="0" cy="301752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20" name="Shape 18"/>
          <p:cNvSpPr/>
          <p:nvPr/>
        </p:nvSpPr>
        <p:spPr>
          <a:xfrm>
            <a:off x="3337560" y="3529584"/>
            <a:ext cx="2651760" cy="960120"/>
          </a:xfrm>
          <a:prstGeom prst="rect">
            <a:avLst/>
          </a:prstGeom>
          <a:solidFill>
            <a:srgbClr val="831843"/>
          </a:solidFill>
          <a:ln w="12700">
            <a:solidFill>
              <a:srgbClr val="831843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419"/>
          </a:p>
        </p:txBody>
      </p:sp>
      <p:sp>
        <p:nvSpPr>
          <p:cNvPr id="21" name="Text 19"/>
          <p:cNvSpPr/>
          <p:nvPr/>
        </p:nvSpPr>
        <p:spPr>
          <a:xfrm>
            <a:off x="3429000" y="3602736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Reglas de Asociación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· confianza · lift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989320" y="1481328"/>
            <a:ext cx="2286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23" name="Shape 21"/>
          <p:cNvSpPr/>
          <p:nvPr/>
        </p:nvSpPr>
        <p:spPr>
          <a:xfrm>
            <a:off x="6217920" y="1005840"/>
            <a:ext cx="2651760" cy="960120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419"/>
          </a:p>
        </p:txBody>
      </p:sp>
      <p:sp>
        <p:nvSpPr>
          <p:cNvPr id="24" name="Text 22"/>
          <p:cNvSpPr/>
          <p:nvPr/>
        </p:nvSpPr>
        <p:spPr>
          <a:xfrm>
            <a:off x="6309360" y="1078992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Euclidiana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de clientes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543800" y="1965960"/>
            <a:ext cx="0" cy="301752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26" name="Shape 24"/>
          <p:cNvSpPr/>
          <p:nvPr/>
        </p:nvSpPr>
        <p:spPr>
          <a:xfrm>
            <a:off x="6217920" y="2267712"/>
            <a:ext cx="2651760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419"/>
          </a:p>
        </p:txBody>
      </p:sp>
      <p:sp>
        <p:nvSpPr>
          <p:cNvPr id="27" name="Text 25"/>
          <p:cNvSpPr/>
          <p:nvPr/>
        </p:nvSpPr>
        <p:spPr>
          <a:xfrm>
            <a:off x="6309360" y="2340864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Hamming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Recomendación de categorías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543800" y="3227832"/>
            <a:ext cx="0" cy="301752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29" name="Shape 27"/>
          <p:cNvSpPr/>
          <p:nvPr/>
        </p:nvSpPr>
        <p:spPr>
          <a:xfrm>
            <a:off x="6217920" y="3529584"/>
            <a:ext cx="2651760" cy="960120"/>
          </a:xfrm>
          <a:prstGeom prst="rect">
            <a:avLst/>
          </a:prstGeom>
          <a:solidFill>
            <a:srgbClr val="78350F"/>
          </a:solidFill>
          <a:ln w="12700">
            <a:solidFill>
              <a:srgbClr val="78350F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419"/>
          </a:p>
        </p:txBody>
      </p:sp>
      <p:sp>
        <p:nvSpPr>
          <p:cNvPr id="30" name="Text 28"/>
          <p:cNvSpPr/>
          <p:nvPr/>
        </p:nvSpPr>
        <p:spPr>
          <a:xfrm>
            <a:off x="6309360" y="3602736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Web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 · JS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de Transacciones Sintéticas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2651760" cy="11887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419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265176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6" name="Text 4"/>
          <p:cNvSpPr/>
          <p:nvPr/>
        </p:nvSpPr>
        <p:spPr>
          <a:xfrm>
            <a:off x="457200" y="134416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89280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únicos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55848" y="1143000"/>
            <a:ext cx="2651760" cy="11887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419"/>
          </a:p>
        </p:txBody>
      </p:sp>
      <p:sp>
        <p:nvSpPr>
          <p:cNvPr id="9" name="Shape 7"/>
          <p:cNvSpPr/>
          <p:nvPr/>
        </p:nvSpPr>
        <p:spPr>
          <a:xfrm>
            <a:off x="3355848" y="1143000"/>
            <a:ext cx="265176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10" name="Text 8"/>
          <p:cNvSpPr/>
          <p:nvPr/>
        </p:nvSpPr>
        <p:spPr>
          <a:xfrm>
            <a:off x="3355848" y="134416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400,000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355848" y="189280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generadas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54496" y="1143000"/>
            <a:ext cx="2651760" cy="11887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419"/>
          </a:p>
        </p:txBody>
      </p:sp>
      <p:sp>
        <p:nvSpPr>
          <p:cNvPr id="13" name="Shape 11"/>
          <p:cNvSpPr/>
          <p:nvPr/>
        </p:nvSpPr>
        <p:spPr>
          <a:xfrm>
            <a:off x="6254496" y="1143000"/>
            <a:ext cx="265176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14" name="Text 12"/>
          <p:cNvSpPr/>
          <p:nvPr/>
        </p:nvSpPr>
        <p:spPr>
          <a:xfrm>
            <a:off x="6254496" y="134416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10–25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254496" y="189280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 por ticket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560320"/>
            <a:ext cx="2651760" cy="11887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419"/>
          </a:p>
        </p:txBody>
      </p:sp>
      <p:sp>
        <p:nvSpPr>
          <p:cNvPr id="17" name="Shape 15"/>
          <p:cNvSpPr/>
          <p:nvPr/>
        </p:nvSpPr>
        <p:spPr>
          <a:xfrm>
            <a:off x="457200" y="2560320"/>
            <a:ext cx="265176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18" name="Text 16"/>
          <p:cNvSpPr/>
          <p:nvPr/>
        </p:nvSpPr>
        <p:spPr>
          <a:xfrm>
            <a:off x="457200" y="276148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≥5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57200" y="331012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Categorías por ticket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55848" y="2560320"/>
            <a:ext cx="2651760" cy="11887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419"/>
          </a:p>
        </p:txBody>
      </p:sp>
      <p:sp>
        <p:nvSpPr>
          <p:cNvPr id="21" name="Shape 19"/>
          <p:cNvSpPr/>
          <p:nvPr/>
        </p:nvSpPr>
        <p:spPr>
          <a:xfrm>
            <a:off x="3355848" y="2560320"/>
            <a:ext cx="265176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22" name="Text 20"/>
          <p:cNvSpPr/>
          <p:nvPr/>
        </p:nvSpPr>
        <p:spPr>
          <a:xfrm>
            <a:off x="3355848" y="276148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~17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3355848" y="331012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de productos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54496" y="2560320"/>
            <a:ext cx="2651760" cy="11887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419"/>
          </a:p>
        </p:txBody>
      </p:sp>
      <p:sp>
        <p:nvSpPr>
          <p:cNvPr id="25" name="Shape 23"/>
          <p:cNvSpPr/>
          <p:nvPr/>
        </p:nvSpPr>
        <p:spPr>
          <a:xfrm>
            <a:off x="6254496" y="2560320"/>
            <a:ext cx="2651760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26" name="Text 24"/>
          <p:cNvSpPr/>
          <p:nvPr/>
        </p:nvSpPr>
        <p:spPr>
          <a:xfrm>
            <a:off x="6254496" y="276148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254496" y="331012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Semilla aleatoria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840480"/>
            <a:ext cx="8229600" cy="105156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419"/>
          </a:p>
        </p:txBody>
      </p:sp>
      <p:sp>
        <p:nvSpPr>
          <p:cNvPr id="29" name="Text 27"/>
          <p:cNvSpPr/>
          <p:nvPr/>
        </p:nvSpPr>
        <p:spPr>
          <a:xfrm>
            <a:off x="640080" y="391363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en PostgreSQL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0080" y="42062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0080" y="44622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400,000 registros (1 por ticket)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383280" y="42062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detalle_ventas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383280" y="44622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~6.8 millones (10–25 por ticket)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126480" y="42062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transacciones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126480" y="44622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400,000 (1:1 con ventas)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320040"/>
            <a:ext cx="73152" cy="4114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4" name="Text 2"/>
          <p:cNvSpPr/>
          <p:nvPr/>
        </p:nvSpPr>
        <p:spPr>
          <a:xfrm>
            <a:off x="64008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Casos de Uso del Sistema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8229600" cy="11430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419"/>
          </a:p>
        </p:txBody>
      </p:sp>
      <p:sp>
        <p:nvSpPr>
          <p:cNvPr id="6" name="Shape 4"/>
          <p:cNvSpPr/>
          <p:nvPr/>
        </p:nvSpPr>
        <p:spPr>
          <a:xfrm>
            <a:off x="457200" y="1024128"/>
            <a:ext cx="73152" cy="11430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7" name="Shape 5"/>
          <p:cNvSpPr/>
          <p:nvPr/>
        </p:nvSpPr>
        <p:spPr>
          <a:xfrm>
            <a:off x="530352" y="1024128"/>
            <a:ext cx="914400" cy="11430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8" name="Text 6"/>
          <p:cNvSpPr/>
          <p:nvPr/>
        </p:nvSpPr>
        <p:spPr>
          <a:xfrm>
            <a:off x="530352" y="113385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30352" y="14630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60020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 Asociación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00200" y="144475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qué categorías se compran juntas. El sistema calcula soporte, confianza y lift para 90 reglas.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94960" y="111556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Gráfica de barras — Lift (top 20)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94960" y="144475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Heatmap de confianza (10×10)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394960" y="177393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Scatter soporte vs. confianza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322576"/>
            <a:ext cx="8229600" cy="11430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419"/>
          </a:p>
        </p:txBody>
      </p:sp>
      <p:sp>
        <p:nvSpPr>
          <p:cNvPr id="16" name="Shape 14"/>
          <p:cNvSpPr/>
          <p:nvPr/>
        </p:nvSpPr>
        <p:spPr>
          <a:xfrm>
            <a:off x="457200" y="2322576"/>
            <a:ext cx="73152" cy="11430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17" name="Shape 15"/>
          <p:cNvSpPr/>
          <p:nvPr/>
        </p:nvSpPr>
        <p:spPr>
          <a:xfrm>
            <a:off x="530352" y="2322576"/>
            <a:ext cx="914400" cy="11430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18" name="Text 16"/>
          <p:cNvSpPr/>
          <p:nvPr/>
        </p:nvSpPr>
        <p:spPr>
          <a:xfrm>
            <a:off x="530352" y="2432304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CU02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30352" y="27614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Gerente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600200" y="23957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KNN Euclidiana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600200" y="27432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 un nuevo cliente como Gasto Alto o Gasto Bajo usando K=3 vecinos más cercanos.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394960" y="241401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Scatter 6 clientes + líneas a vecinos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394960" y="27432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Scatter 200 clientes + círculo radio K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621024"/>
            <a:ext cx="8229600" cy="11430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419"/>
          </a:p>
        </p:txBody>
      </p:sp>
      <p:sp>
        <p:nvSpPr>
          <p:cNvPr id="25" name="Shape 23"/>
          <p:cNvSpPr/>
          <p:nvPr/>
        </p:nvSpPr>
        <p:spPr>
          <a:xfrm>
            <a:off x="457200" y="3621024"/>
            <a:ext cx="73152" cy="1143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26" name="Shape 24"/>
          <p:cNvSpPr/>
          <p:nvPr/>
        </p:nvSpPr>
        <p:spPr>
          <a:xfrm>
            <a:off x="530352" y="3621024"/>
            <a:ext cx="914400" cy="11430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27" name="Text 25"/>
          <p:cNvSpPr/>
          <p:nvPr/>
        </p:nvSpPr>
        <p:spPr>
          <a:xfrm>
            <a:off x="530352" y="373075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CU03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30352" y="405993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600200" y="369417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Recomendación KNN Hamming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600200" y="404164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Recomienda categorías a un cliente con vectores binarios y K=1 vecino más cercano.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394960" y="371246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Heatmap de vectores binarios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394960" y="404164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Barras de distancias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394960" y="437083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Panel de recomendación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Algoritmos Implementados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1115568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419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188720" cy="11155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783080" y="121615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Apriori — Itemsets &amp; Reglas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783080" y="1545336"/>
            <a:ext cx="4114800" cy="2560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9" name="Text 7"/>
          <p:cNvSpPr/>
          <p:nvPr/>
        </p:nvSpPr>
        <p:spPr>
          <a:xfrm>
            <a:off x="1874520" y="156362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supp(X) = count(X) / 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783080" y="185623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400,000 ventas × 10 categorías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783080" y="200253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637 itemsets (niveles 1–5)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783080" y="21488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90 reglas con soporte, confianza y lift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404872"/>
            <a:ext cx="8229600" cy="1115568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419"/>
          </a:p>
        </p:txBody>
      </p:sp>
      <p:sp>
        <p:nvSpPr>
          <p:cNvPr id="14" name="Shape 12"/>
          <p:cNvSpPr/>
          <p:nvPr/>
        </p:nvSpPr>
        <p:spPr>
          <a:xfrm>
            <a:off x="457200" y="2404872"/>
            <a:ext cx="1188720" cy="11155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15" name="Text 13"/>
          <p:cNvSpPr/>
          <p:nvPr/>
        </p:nvSpPr>
        <p:spPr>
          <a:xfrm>
            <a:off x="457200" y="2679192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783080" y="247802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Euclidiana — Clasificación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783080" y="2807208"/>
            <a:ext cx="4114800" cy="2560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18" name="Text 16"/>
          <p:cNvSpPr/>
          <p:nvPr/>
        </p:nvSpPr>
        <p:spPr>
          <a:xfrm>
            <a:off x="1874520" y="282549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= √[(gasto₁−gasto₂)² + (prod₁−prod₂)²]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783080" y="311810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200 clientes con gasto y productos prom.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783080" y="326440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K = 3 vecinos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783080" y="341071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Resultado: Gasto Alto / Gasto Bajo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666744"/>
            <a:ext cx="8229600" cy="1115568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419"/>
          </a:p>
        </p:txBody>
      </p:sp>
      <p:sp>
        <p:nvSpPr>
          <p:cNvPr id="23" name="Shape 21"/>
          <p:cNvSpPr/>
          <p:nvPr/>
        </p:nvSpPr>
        <p:spPr>
          <a:xfrm>
            <a:off x="457200" y="3666744"/>
            <a:ext cx="1188720" cy="11155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24" name="Text 22"/>
          <p:cNvSpPr/>
          <p:nvPr/>
        </p:nvSpPr>
        <p:spPr>
          <a:xfrm>
            <a:off x="457200" y="3941064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1783080" y="373989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Hamming — Recomendación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783080" y="4069080"/>
            <a:ext cx="4114800" cy="2560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27" name="Text 25"/>
          <p:cNvSpPr/>
          <p:nvPr/>
        </p:nvSpPr>
        <p:spPr>
          <a:xfrm>
            <a:off x="1874520" y="408736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= posiciones donde los bits difieren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783080" y="437997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Ventas como vectores binarios (10 dim.)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783080" y="452628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K = 1 vecino más cercano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783080" y="467258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Recomienda: Eggs/Meat y Cleaning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320040"/>
            <a:ext cx="73152" cy="4114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4" name="Text 2"/>
          <p:cNvSpPr/>
          <p:nvPr/>
        </p:nvSpPr>
        <p:spPr>
          <a:xfrm>
            <a:off x="64008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637 Itemsets Frecuentes — Niveles 1 a 5</a:t>
            </a:r>
            <a:endParaRPr lang="en-US" sz="2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960120"/>
          <a:ext cx="36576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4343400" y="960120"/>
            <a:ext cx="4389120" cy="6858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419"/>
          </a:p>
        </p:txBody>
      </p:sp>
      <p:sp>
        <p:nvSpPr>
          <p:cNvPr id="7" name="Shape 4"/>
          <p:cNvSpPr/>
          <p:nvPr/>
        </p:nvSpPr>
        <p:spPr>
          <a:xfrm>
            <a:off x="4343400" y="960120"/>
            <a:ext cx="73152" cy="6858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8" name="Text 5"/>
          <p:cNvSpPr/>
          <p:nvPr/>
        </p:nvSpPr>
        <p:spPr>
          <a:xfrm>
            <a:off x="4526280" y="101498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1 — 10 combinaciones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26280" y="128930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máx: ~92%  ·  Frutas/Verduras con mayor soporte (~92%). Baby Care con menor (~50%).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343400" y="1764792"/>
            <a:ext cx="4389120" cy="6858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419"/>
          </a:p>
        </p:txBody>
      </p:sp>
      <p:sp>
        <p:nvSpPr>
          <p:cNvPr id="11" name="Shape 8"/>
          <p:cNvSpPr/>
          <p:nvPr/>
        </p:nvSpPr>
        <p:spPr>
          <a:xfrm>
            <a:off x="4343400" y="1764792"/>
            <a:ext cx="73152" cy="6858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12" name="Text 9"/>
          <p:cNvSpPr/>
          <p:nvPr/>
        </p:nvSpPr>
        <p:spPr>
          <a:xfrm>
            <a:off x="4526280" y="181965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2 — 45 combinaciones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26280" y="209397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máx: ~85%  ·  Pares más frecuentes combinan las categorías más populares. Todos &gt; 0.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343400" y="2569464"/>
            <a:ext cx="4389120" cy="6858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419"/>
          </a:p>
        </p:txBody>
      </p:sp>
      <p:sp>
        <p:nvSpPr>
          <p:cNvPr id="15" name="Shape 12"/>
          <p:cNvSpPr/>
          <p:nvPr/>
        </p:nvSpPr>
        <p:spPr>
          <a:xfrm>
            <a:off x="4343400" y="2569464"/>
            <a:ext cx="73152" cy="68580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16" name="Text 13"/>
          <p:cNvSpPr/>
          <p:nvPr/>
        </p:nvSpPr>
        <p:spPr>
          <a:xfrm>
            <a:off x="4526280" y="2624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3 — 120 combinaciones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26280" y="289864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máx: ~78%  ·  Tríos con soporte máximo ~78%.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343400" y="3374136"/>
            <a:ext cx="4389120" cy="6858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419"/>
          </a:p>
        </p:txBody>
      </p:sp>
      <p:sp>
        <p:nvSpPr>
          <p:cNvPr id="19" name="Shape 16"/>
          <p:cNvSpPr/>
          <p:nvPr/>
        </p:nvSpPr>
        <p:spPr>
          <a:xfrm>
            <a:off x="4343400" y="3374136"/>
            <a:ext cx="73152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20" name="Text 17"/>
          <p:cNvSpPr/>
          <p:nvPr/>
        </p:nvSpPr>
        <p:spPr>
          <a:xfrm>
            <a:off x="4526280" y="342900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4 — 210 combinaciones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526280" y="370332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máx: ~65%  ·  Cuartetos con soporte máximo ~65%.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343400" y="4178808"/>
            <a:ext cx="4389120" cy="6858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419"/>
          </a:p>
        </p:txBody>
      </p:sp>
      <p:sp>
        <p:nvSpPr>
          <p:cNvPr id="23" name="Shape 20"/>
          <p:cNvSpPr/>
          <p:nvPr/>
        </p:nvSpPr>
        <p:spPr>
          <a:xfrm>
            <a:off x="4343400" y="4178808"/>
            <a:ext cx="73152" cy="6858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24" name="Text 21"/>
          <p:cNvSpPr/>
          <p:nvPr/>
        </p:nvSpPr>
        <p:spPr>
          <a:xfrm>
            <a:off x="4526280" y="423367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5 — 252 combinaciones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526280" y="450799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máx: ~50%  ·  Quintetos con soporte máximo ~50%. Posible por diversidad forzada de ≥5 categorías.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Reglas de Asociación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2651760" cy="10058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419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Soporte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5727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Popularidad de la combinación en las 400K ventas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355848" y="1143000"/>
            <a:ext cx="2651760" cy="10058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419"/>
          </a:p>
        </p:txBody>
      </p:sp>
      <p:sp>
        <p:nvSpPr>
          <p:cNvPr id="8" name="Text 6"/>
          <p:cNvSpPr/>
          <p:nvPr/>
        </p:nvSpPr>
        <p:spPr>
          <a:xfrm>
            <a:off x="3493008" y="1234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Confianza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93008" y="15727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P(B|A) — probabilidad de comprar B dado 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254496" y="1143000"/>
            <a:ext cx="2651760" cy="10058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419"/>
          </a:p>
        </p:txBody>
      </p:sp>
      <p:sp>
        <p:nvSpPr>
          <p:cNvPr id="11" name="Text 9"/>
          <p:cNvSpPr/>
          <p:nvPr/>
        </p:nvSpPr>
        <p:spPr>
          <a:xfrm>
            <a:off x="6391656" y="1234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Lift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91656" y="15727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 si la asociación es genuina o producto del azar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331720"/>
            <a:ext cx="8229600" cy="25146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419"/>
          </a:p>
        </p:txBody>
      </p:sp>
      <p:sp>
        <p:nvSpPr>
          <p:cNvPr id="14" name="Text 12"/>
          <p:cNvSpPr/>
          <p:nvPr/>
        </p:nvSpPr>
        <p:spPr>
          <a:xfrm>
            <a:off x="640080" y="242316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Clave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2862072"/>
            <a:ext cx="182880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16" name="Text 14"/>
          <p:cNvSpPr/>
          <p:nvPr/>
        </p:nvSpPr>
        <p:spPr>
          <a:xfrm>
            <a:off x="896112" y="27889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regla por Lift: 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468880" y="27889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Baby Care → Gourmet (lift ~1.14)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468880" y="304495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Baby Care está presente, Gourmet aparece un 14% más de lo esperado por azar.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40080" y="3410712"/>
            <a:ext cx="182880" cy="1828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20" name="Text 18"/>
          <p:cNvSpPr/>
          <p:nvPr/>
        </p:nvSpPr>
        <p:spPr>
          <a:xfrm>
            <a:off x="896112" y="33375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Confianza: 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468880" y="33375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categoría → Fruits &amp; Vegetables (&gt;90%)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468880" y="359359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Fruits/Veg está en la gran mayoría de ventas.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0080" y="3959352"/>
            <a:ext cx="182880" cy="1828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24" name="Text 22"/>
          <p:cNvSpPr/>
          <p:nvPr/>
        </p:nvSpPr>
        <p:spPr>
          <a:xfrm>
            <a:off x="896112" y="3886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 de Lift: 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468880" y="38862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 a 1.14 — cerca de 1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468880" y="414223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categorías son relativamente independientes. Categorías de menor frecuencia generan asociaciones más fuertes.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40080" y="4507992"/>
            <a:ext cx="182880" cy="182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28" name="Text 26"/>
          <p:cNvSpPr/>
          <p:nvPr/>
        </p:nvSpPr>
        <p:spPr>
          <a:xfrm>
            <a:off x="896112" y="4434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Visualizaciones: 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468880" y="44348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gráficas generadas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468880" y="469087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Barras de lift (top 20) · Heatmap confianza (10×10) · Scatter soporte vs. confianza (tamaño = lift)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· CASO DE USO 2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320040"/>
            <a:ext cx="73152" cy="4114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4" name="Text 2"/>
          <p:cNvSpPr/>
          <p:nvPr/>
        </p:nvSpPr>
        <p:spPr>
          <a:xfrm>
            <a:off x="64008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Euclidiana — Clasificación de Clientes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2560320" cy="128016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419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170992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reales en BD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960120"/>
            <a:ext cx="2560320" cy="128016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419"/>
          </a:p>
        </p:txBody>
      </p:sp>
      <p:sp>
        <p:nvSpPr>
          <p:cNvPr id="9" name="Text 7"/>
          <p:cNvSpPr/>
          <p:nvPr/>
        </p:nvSpPr>
        <p:spPr>
          <a:xfrm>
            <a:off x="2606040" y="105156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$4,400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606040" y="170992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 de gasto (umbral)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960120"/>
            <a:ext cx="2560320" cy="128016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419"/>
          </a:p>
        </p:txBody>
      </p:sp>
      <p:sp>
        <p:nvSpPr>
          <p:cNvPr id="12" name="Text 10"/>
          <p:cNvSpPr/>
          <p:nvPr/>
        </p:nvSpPr>
        <p:spPr>
          <a:xfrm>
            <a:off x="4754880" y="105156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3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754880" y="170992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Vecinos más cercanos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903720" y="960120"/>
            <a:ext cx="2560320" cy="128016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419"/>
          </a:p>
        </p:txBody>
      </p:sp>
      <p:sp>
        <p:nvSpPr>
          <p:cNvPr id="15" name="Text 13"/>
          <p:cNvSpPr/>
          <p:nvPr/>
        </p:nvSpPr>
        <p:spPr>
          <a:xfrm>
            <a:off x="6903720" y="105156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Euclidiana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903720" y="170992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Distancia utilizada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377440"/>
            <a:ext cx="8229600" cy="25146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419"/>
          </a:p>
        </p:txBody>
      </p:sp>
      <p:sp>
        <p:nvSpPr>
          <p:cNvPr id="18" name="Text 16"/>
          <p:cNvSpPr/>
          <p:nvPr/>
        </p:nvSpPr>
        <p:spPr>
          <a:xfrm>
            <a:off x="640080" y="24688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Resuelto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274320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 cliente: gasto = $4,450 · productos = 16.1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3063240"/>
            <a:ext cx="2514600" cy="8229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419"/>
          </a:p>
        </p:txBody>
      </p:sp>
      <p:sp>
        <p:nvSpPr>
          <p:cNvPr id="21" name="Shape 19"/>
          <p:cNvSpPr/>
          <p:nvPr/>
        </p:nvSpPr>
        <p:spPr>
          <a:xfrm>
            <a:off x="640080" y="3063240"/>
            <a:ext cx="251460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22" name="Text 20"/>
          <p:cNvSpPr/>
          <p:nvPr/>
        </p:nvSpPr>
        <p:spPr>
          <a:xfrm>
            <a:off x="731520" y="316382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Vecino C5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34290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21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828800" y="342900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 Bajo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37560" y="3063240"/>
            <a:ext cx="2514600" cy="8229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419"/>
          </a:p>
        </p:txBody>
      </p:sp>
      <p:sp>
        <p:nvSpPr>
          <p:cNvPr id="26" name="Shape 24"/>
          <p:cNvSpPr/>
          <p:nvPr/>
        </p:nvSpPr>
        <p:spPr>
          <a:xfrm>
            <a:off x="3337560" y="3063240"/>
            <a:ext cx="251460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27" name="Text 25"/>
          <p:cNvSpPr/>
          <p:nvPr/>
        </p:nvSpPr>
        <p:spPr>
          <a:xfrm>
            <a:off x="3429000" y="316382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Vecino C1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429000" y="34290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116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26280" y="342900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 Bajo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35040" y="3063240"/>
            <a:ext cx="2514600" cy="8229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419"/>
          </a:p>
        </p:txBody>
      </p:sp>
      <p:sp>
        <p:nvSpPr>
          <p:cNvPr id="31" name="Shape 29"/>
          <p:cNvSpPr/>
          <p:nvPr/>
        </p:nvSpPr>
        <p:spPr>
          <a:xfrm>
            <a:off x="6035040" y="3063240"/>
            <a:ext cx="251460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32" name="Text 30"/>
          <p:cNvSpPr/>
          <p:nvPr/>
        </p:nvSpPr>
        <p:spPr>
          <a:xfrm>
            <a:off x="6126480" y="316382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Vecino C6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26480" y="34290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169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223760" y="342900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 Bajo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36" name="Text 34"/>
          <p:cNvSpPr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Votación: 3 de 3 = Gasto Bajo  →  El nuevo cliente se clasifica como  GASTO BAJO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· CASO DE USO 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Hamming — Recomendación de Categorías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419"/>
          </a:p>
        </p:txBody>
      </p:sp>
      <p:sp>
        <p:nvSpPr>
          <p:cNvPr id="5" name="Text 3"/>
          <p:cNvSpPr/>
          <p:nvPr/>
        </p:nvSpPr>
        <p:spPr>
          <a:xfrm>
            <a:off x="640080" y="11704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Representación binaria — Venta X: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749808" cy="384048"/>
          </a:xfrm>
          <a:prstGeom prst="rect">
            <a:avLst/>
          </a:prstGeom>
          <a:solidFill>
            <a:srgbClr val="334155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Snacks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1280160" y="1508760"/>
            <a:ext cx="749808" cy="38404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10" name="Text 8"/>
          <p:cNvSpPr/>
          <p:nvPr/>
        </p:nvSpPr>
        <p:spPr>
          <a:xfrm>
            <a:off x="1280160" y="150876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1920240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2103120" y="1508760"/>
            <a:ext cx="749808" cy="384048"/>
          </a:xfrm>
          <a:prstGeom prst="rect">
            <a:avLst/>
          </a:prstGeom>
          <a:solidFill>
            <a:srgbClr val="334155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13" name="Text 11"/>
          <p:cNvSpPr/>
          <p:nvPr/>
        </p:nvSpPr>
        <p:spPr>
          <a:xfrm>
            <a:off x="2103120" y="150876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103120" y="1920240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Foodgr.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2926080" y="1508760"/>
            <a:ext cx="749808" cy="38404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16" name="Text 14"/>
          <p:cNvSpPr/>
          <p:nvPr/>
        </p:nvSpPr>
        <p:spPr>
          <a:xfrm>
            <a:off x="2926080" y="150876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926080" y="1920240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Gourmet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3749040" y="1508760"/>
            <a:ext cx="749808" cy="384048"/>
          </a:xfrm>
          <a:prstGeom prst="rect">
            <a:avLst/>
          </a:prstGeom>
          <a:solidFill>
            <a:srgbClr val="334155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19" name="Text 17"/>
          <p:cNvSpPr/>
          <p:nvPr/>
        </p:nvSpPr>
        <p:spPr>
          <a:xfrm>
            <a:off x="3749040" y="150876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749040" y="1920240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4572000" y="1508760"/>
            <a:ext cx="749808" cy="384048"/>
          </a:xfrm>
          <a:prstGeom prst="rect">
            <a:avLst/>
          </a:prstGeom>
          <a:solidFill>
            <a:srgbClr val="334155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22" name="Text 20"/>
          <p:cNvSpPr/>
          <p:nvPr/>
        </p:nvSpPr>
        <p:spPr>
          <a:xfrm>
            <a:off x="4572000" y="150876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0" y="1920240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Beverages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5394960" y="1508760"/>
            <a:ext cx="749808" cy="38404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25" name="Text 23"/>
          <p:cNvSpPr/>
          <p:nvPr/>
        </p:nvSpPr>
        <p:spPr>
          <a:xfrm>
            <a:off x="5394960" y="150876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394960" y="1920240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Bakery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6217920" y="1508760"/>
            <a:ext cx="749808" cy="38404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28" name="Text 26"/>
          <p:cNvSpPr/>
          <p:nvPr/>
        </p:nvSpPr>
        <p:spPr>
          <a:xfrm>
            <a:off x="6217920" y="150876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217920" y="1920240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Baby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7040880" y="1508760"/>
            <a:ext cx="749808" cy="384048"/>
          </a:xfrm>
          <a:prstGeom prst="rect">
            <a:avLst/>
          </a:prstGeom>
          <a:solidFill>
            <a:srgbClr val="334155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31" name="Text 29"/>
          <p:cNvSpPr/>
          <p:nvPr/>
        </p:nvSpPr>
        <p:spPr>
          <a:xfrm>
            <a:off x="7040880" y="150876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040880" y="1920240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Fruits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7863840" y="1508760"/>
            <a:ext cx="749808" cy="38404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34" name="Text 32"/>
          <p:cNvSpPr/>
          <p:nvPr/>
        </p:nvSpPr>
        <p:spPr>
          <a:xfrm>
            <a:off x="7863840" y="150876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863840" y="1920240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Eggs/Meat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457200" y="22128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Distancias calculadas (K=1 → vecino más cercano):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2542032"/>
            <a:ext cx="1920240" cy="777240"/>
          </a:xfrm>
          <a:prstGeom prst="rect">
            <a:avLst/>
          </a:prstGeom>
          <a:solidFill>
            <a:srgbClr val="0C4A6E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419"/>
          </a:p>
        </p:txBody>
      </p:sp>
      <p:sp>
        <p:nvSpPr>
          <p:cNvPr id="38" name="Shape 36"/>
          <p:cNvSpPr/>
          <p:nvPr/>
        </p:nvSpPr>
        <p:spPr>
          <a:xfrm>
            <a:off x="457200" y="2542032"/>
            <a:ext cx="192024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39" name="Text 37"/>
          <p:cNvSpPr/>
          <p:nvPr/>
        </p:nvSpPr>
        <p:spPr>
          <a:xfrm>
            <a:off x="548640" y="26334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 A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48640" y="29077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2  ← ELEGIDO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560320" y="2542032"/>
            <a:ext cx="1920240" cy="7772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419"/>
          </a:p>
        </p:txBody>
      </p:sp>
      <p:sp>
        <p:nvSpPr>
          <p:cNvPr id="42" name="Text 40"/>
          <p:cNvSpPr/>
          <p:nvPr/>
        </p:nvSpPr>
        <p:spPr>
          <a:xfrm>
            <a:off x="2651760" y="26334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 B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651760" y="29077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2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663440" y="2542032"/>
            <a:ext cx="1920240" cy="7772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419"/>
          </a:p>
        </p:txBody>
      </p:sp>
      <p:sp>
        <p:nvSpPr>
          <p:cNvPr id="45" name="Text 43"/>
          <p:cNvSpPr/>
          <p:nvPr/>
        </p:nvSpPr>
        <p:spPr>
          <a:xfrm>
            <a:off x="4754880" y="26334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 C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754880" y="29077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3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766560" y="2542032"/>
            <a:ext cx="1920240" cy="7772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419"/>
          </a:p>
        </p:txBody>
      </p:sp>
      <p:sp>
        <p:nvSpPr>
          <p:cNvPr id="48" name="Text 46"/>
          <p:cNvSpPr/>
          <p:nvPr/>
        </p:nvSpPr>
        <p:spPr>
          <a:xfrm>
            <a:off x="6858000" y="26334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 D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858000" y="29077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4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57200" y="3456432"/>
            <a:ext cx="8229600" cy="150876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419"/>
          </a:p>
        </p:txBody>
      </p:sp>
      <p:sp>
        <p:nvSpPr>
          <p:cNvPr id="51" name="Shape 49"/>
          <p:cNvSpPr/>
          <p:nvPr/>
        </p:nvSpPr>
        <p:spPr>
          <a:xfrm>
            <a:off x="457200" y="3456432"/>
            <a:ext cx="8229600" cy="32004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52" name="Text 50"/>
          <p:cNvSpPr/>
          <p:nvPr/>
        </p:nvSpPr>
        <p:spPr>
          <a:xfrm>
            <a:off x="640080" y="3493008"/>
            <a:ext cx="7863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Categorías Recomendadas (tiene Venta A, no tiene Venta X)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31520" y="3886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🥩 Eggs / Meat &amp; Fish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4389120" y="38862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 en Venta A (vecino más cercano), ausente en Venta X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31520" y="4434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🧹 Cleaning &amp; Household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4389120" y="4434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 en Venta A (vecino más cercano), ausente en Venta X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INTERPRETACIÓN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320040"/>
            <a:ext cx="73152" cy="4114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4" name="Text 2"/>
          <p:cNvSpPr/>
          <p:nvPr/>
        </p:nvSpPr>
        <p:spPr>
          <a:xfrm>
            <a:off x="64008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¿Se Cumplieron los Objetivos?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56692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419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566928" cy="5669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106070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patrones de compra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43000" y="130759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637 itemsets y 90 reglas de asociación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046720" y="11430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8229600" cy="56692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419"/>
          </a:p>
        </p:txBody>
      </p:sp>
      <p:sp>
        <p:nvSpPr>
          <p:cNvPr id="12" name="Shape 10"/>
          <p:cNvSpPr/>
          <p:nvPr/>
        </p:nvSpPr>
        <p:spPr>
          <a:xfrm>
            <a:off x="457200" y="1691640"/>
            <a:ext cx="566928" cy="5669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13" name="Text 11"/>
          <p:cNvSpPr/>
          <p:nvPr/>
        </p:nvSpPr>
        <p:spPr>
          <a:xfrm>
            <a:off x="457200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43000" y="174650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fuerza de asociación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43000" y="199339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Soporte, confianza y lift para todos los pares. Baby→Gourmet lift 1.14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046720" y="18288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377440"/>
            <a:ext cx="8229600" cy="56692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419"/>
          </a:p>
        </p:txBody>
      </p:sp>
      <p:sp>
        <p:nvSpPr>
          <p:cNvPr id="18" name="Shape 16"/>
          <p:cNvSpPr/>
          <p:nvPr/>
        </p:nvSpPr>
        <p:spPr>
          <a:xfrm>
            <a:off x="457200" y="2377440"/>
            <a:ext cx="566928" cy="5669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19" name="Text 17"/>
          <p:cNvSpPr/>
          <p:nvPr/>
        </p:nvSpPr>
        <p:spPr>
          <a:xfrm>
            <a:off x="457200" y="2377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43000" y="243230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Clasificar clientes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43000" y="267919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K=3 clasifica correctamente con distancia Euclidiana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046720" y="25146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063240"/>
            <a:ext cx="8229600" cy="56692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419"/>
          </a:p>
        </p:txBody>
      </p:sp>
      <p:sp>
        <p:nvSpPr>
          <p:cNvPr id="24" name="Shape 22"/>
          <p:cNvSpPr/>
          <p:nvPr/>
        </p:nvSpPr>
        <p:spPr>
          <a:xfrm>
            <a:off x="457200" y="3063240"/>
            <a:ext cx="566928" cy="5669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25" name="Text 23"/>
          <p:cNvSpPr/>
          <p:nvPr/>
        </p:nvSpPr>
        <p:spPr>
          <a:xfrm>
            <a:off x="457200" y="3063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143000" y="311810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Recomendar categorías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43000" y="336499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K=1 con Hamming recomienda Eggs/Meat y Cleaning exitosamente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046720" y="32004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749040"/>
            <a:ext cx="8229600" cy="56692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419"/>
          </a:p>
        </p:txBody>
      </p:sp>
      <p:sp>
        <p:nvSpPr>
          <p:cNvPr id="30" name="Shape 28"/>
          <p:cNvSpPr/>
          <p:nvPr/>
        </p:nvSpPr>
        <p:spPr>
          <a:xfrm>
            <a:off x="457200" y="3749040"/>
            <a:ext cx="566928" cy="5669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31" name="Text 29"/>
          <p:cNvSpPr/>
          <p:nvPr/>
        </p:nvSpPr>
        <p:spPr>
          <a:xfrm>
            <a:off x="457200" y="3749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143000" y="380390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Visualizar resultados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143000" y="405079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gráficas PNG en dashboard web con 3 pestañas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046720" y="38862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4526280"/>
            <a:ext cx="8229600" cy="475488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36" name="Text 34"/>
          <p:cNvSpPr/>
          <p:nvPr/>
        </p:nvSpPr>
        <p:spPr>
          <a:xfrm>
            <a:off x="640080" y="454456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Limitación: Datos sintéticos generan lifts cercanos a 1 (0.98–1.14). En datos reales los lifts serían más extremos.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4114800" cy="10972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419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411480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6" name="Text 4"/>
          <p:cNvSpPr/>
          <p:nvPr/>
        </p:nvSpPr>
        <p:spPr>
          <a:xfrm>
            <a:off x="594360" y="12893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60020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manejó ~7.6M registros con integridad referencial. Carga masiva con pandas.to_sql() y chunksize fue eficiente.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800600" y="1143000"/>
            <a:ext cx="4114800" cy="10972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419"/>
          </a:p>
        </p:txBody>
      </p:sp>
      <p:sp>
        <p:nvSpPr>
          <p:cNvPr id="9" name="Shape 7"/>
          <p:cNvSpPr/>
          <p:nvPr/>
        </p:nvSpPr>
        <p:spPr>
          <a:xfrm>
            <a:off x="4800600" y="1143000"/>
            <a:ext cx="411480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10" name="Text 8"/>
          <p:cNvSpPr/>
          <p:nvPr/>
        </p:nvSpPr>
        <p:spPr>
          <a:xfrm>
            <a:off x="4937760" y="12893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160020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limpieza es el paso más crítico. De 27,555 productos, solo 9,996 (36%) eran realmente de canasta básica.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404872"/>
            <a:ext cx="4114800" cy="10972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419"/>
          </a:p>
        </p:txBody>
      </p:sp>
      <p:sp>
        <p:nvSpPr>
          <p:cNvPr id="13" name="Shape 11"/>
          <p:cNvSpPr/>
          <p:nvPr/>
        </p:nvSpPr>
        <p:spPr>
          <a:xfrm>
            <a:off x="457200" y="2404872"/>
            <a:ext cx="41148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14" name="Text 12"/>
          <p:cNvSpPr/>
          <p:nvPr/>
        </p:nvSpPr>
        <p:spPr>
          <a:xfrm>
            <a:off x="594360" y="255117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Itemsets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2862072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diversidad forzada de ≥5 categorías por ticket fue esencial para que los niveles 4 y 5 tuvieran soporte significativo.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800600" y="2404872"/>
            <a:ext cx="4114800" cy="10972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419"/>
          </a:p>
        </p:txBody>
      </p:sp>
      <p:sp>
        <p:nvSpPr>
          <p:cNvPr id="17" name="Shape 15"/>
          <p:cNvSpPr/>
          <p:nvPr/>
        </p:nvSpPr>
        <p:spPr>
          <a:xfrm>
            <a:off x="4800600" y="2404872"/>
            <a:ext cx="411480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18" name="Text 16"/>
          <p:cNvSpPr/>
          <p:nvPr/>
        </p:nvSpPr>
        <p:spPr>
          <a:xfrm>
            <a:off x="4937760" y="255117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2862072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Euclidiana para datos numéricos, Hamming para binarios. Simple pero poderoso. La elección de distancia depende del tipo de datos.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666744"/>
            <a:ext cx="4114800" cy="10972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419"/>
          </a:p>
        </p:txBody>
      </p:sp>
      <p:sp>
        <p:nvSpPr>
          <p:cNvPr id="21" name="Shape 19"/>
          <p:cNvSpPr/>
          <p:nvPr/>
        </p:nvSpPr>
        <p:spPr>
          <a:xfrm>
            <a:off x="457200" y="3666744"/>
            <a:ext cx="41148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22" name="Text 20"/>
          <p:cNvSpPr/>
          <p:nvPr/>
        </p:nvSpPr>
        <p:spPr>
          <a:xfrm>
            <a:off x="594360" y="38130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 Asociación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4360" y="4123944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Soporte, confianza y lift son tres perspectivas complementarias. Sin lift, reglas obvias parecerían significativas.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00600" y="3666744"/>
            <a:ext cx="4114800" cy="10972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419"/>
          </a:p>
        </p:txBody>
      </p:sp>
      <p:sp>
        <p:nvSpPr>
          <p:cNvPr id="25" name="Shape 23"/>
          <p:cNvSpPr/>
          <p:nvPr/>
        </p:nvSpPr>
        <p:spPr>
          <a:xfrm>
            <a:off x="4800600" y="3666744"/>
            <a:ext cx="4114800" cy="73152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26" name="Text 24"/>
          <p:cNvSpPr/>
          <p:nvPr/>
        </p:nvSpPr>
        <p:spPr>
          <a:xfrm>
            <a:off x="4937760" y="38130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Aprendizaje Principal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37760" y="4123944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solos no dicen nada. Es el proceso completo —obtener, limpiar, analizar, visualizar e interpretar— lo que genera valor.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Tecnologías Utilizadas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51760" cy="82296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419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64008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6" name="Text 4"/>
          <p:cNvSpPr/>
          <p:nvPr/>
        </p:nvSpPr>
        <p:spPr>
          <a:xfrm>
            <a:off x="658368" y="10972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8368" y="142646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principal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355848" y="1005840"/>
            <a:ext cx="2651760" cy="82296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419"/>
          </a:p>
        </p:txBody>
      </p:sp>
      <p:sp>
        <p:nvSpPr>
          <p:cNvPr id="9" name="Shape 7"/>
          <p:cNvSpPr/>
          <p:nvPr/>
        </p:nvSpPr>
        <p:spPr>
          <a:xfrm>
            <a:off x="3355848" y="1005840"/>
            <a:ext cx="64008" cy="82296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10" name="Text 8"/>
          <p:cNvSpPr/>
          <p:nvPr/>
        </p:nvSpPr>
        <p:spPr>
          <a:xfrm>
            <a:off x="3557016" y="10972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57016" y="142646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y manipulación de datos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54496" y="1005840"/>
            <a:ext cx="2651760" cy="82296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419"/>
          </a:p>
        </p:txBody>
      </p:sp>
      <p:sp>
        <p:nvSpPr>
          <p:cNvPr id="13" name="Shape 11"/>
          <p:cNvSpPr/>
          <p:nvPr/>
        </p:nvSpPr>
        <p:spPr>
          <a:xfrm>
            <a:off x="6254496" y="1005840"/>
            <a:ext cx="64008" cy="8229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14" name="Text 12"/>
          <p:cNvSpPr/>
          <p:nvPr/>
        </p:nvSpPr>
        <p:spPr>
          <a:xfrm>
            <a:off x="6455664" y="10972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55664" y="142646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Cálculos numéricos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011680"/>
            <a:ext cx="2651760" cy="82296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419"/>
          </a:p>
        </p:txBody>
      </p:sp>
      <p:sp>
        <p:nvSpPr>
          <p:cNvPr id="17" name="Shape 15"/>
          <p:cNvSpPr/>
          <p:nvPr/>
        </p:nvSpPr>
        <p:spPr>
          <a:xfrm>
            <a:off x="457200" y="2011680"/>
            <a:ext cx="64008" cy="8229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18" name="Text 16"/>
          <p:cNvSpPr/>
          <p:nvPr/>
        </p:nvSpPr>
        <p:spPr>
          <a:xfrm>
            <a:off x="658368" y="21031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8368" y="243230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relacional (Docker)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355848" y="2011680"/>
            <a:ext cx="2651760" cy="82296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419"/>
          </a:p>
        </p:txBody>
      </p:sp>
      <p:sp>
        <p:nvSpPr>
          <p:cNvPr id="21" name="Shape 19"/>
          <p:cNvSpPr/>
          <p:nvPr/>
        </p:nvSpPr>
        <p:spPr>
          <a:xfrm>
            <a:off x="3355848" y="2011680"/>
            <a:ext cx="64008" cy="822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22" name="Text 20"/>
          <p:cNvSpPr/>
          <p:nvPr/>
        </p:nvSpPr>
        <p:spPr>
          <a:xfrm>
            <a:off x="3557016" y="21031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+ psycopg2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557016" y="243230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 Python–PostgreSQL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254496" y="2011680"/>
            <a:ext cx="2651760" cy="82296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419"/>
          </a:p>
        </p:txBody>
      </p:sp>
      <p:sp>
        <p:nvSpPr>
          <p:cNvPr id="25" name="Shape 23"/>
          <p:cNvSpPr/>
          <p:nvPr/>
        </p:nvSpPr>
        <p:spPr>
          <a:xfrm>
            <a:off x="6254496" y="2011680"/>
            <a:ext cx="64008" cy="8229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26" name="Text 24"/>
          <p:cNvSpPr/>
          <p:nvPr/>
        </p:nvSpPr>
        <p:spPr>
          <a:xfrm>
            <a:off x="6455664" y="21031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55664" y="243230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gráficas de visualización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017520"/>
            <a:ext cx="2651760" cy="82296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419"/>
          </a:p>
        </p:txBody>
      </p:sp>
      <p:sp>
        <p:nvSpPr>
          <p:cNvPr id="29" name="Shape 27"/>
          <p:cNvSpPr/>
          <p:nvPr/>
        </p:nvSpPr>
        <p:spPr>
          <a:xfrm>
            <a:off x="457200" y="3017520"/>
            <a:ext cx="64008" cy="8229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30" name="Text 28"/>
          <p:cNvSpPr/>
          <p:nvPr/>
        </p:nvSpPr>
        <p:spPr>
          <a:xfrm>
            <a:off x="658368" y="31089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itertools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58368" y="343814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Combinaciones para itemsets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355848" y="3017520"/>
            <a:ext cx="2651760" cy="82296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419"/>
          </a:p>
        </p:txBody>
      </p:sp>
      <p:sp>
        <p:nvSpPr>
          <p:cNvPr id="33" name="Shape 31"/>
          <p:cNvSpPr/>
          <p:nvPr/>
        </p:nvSpPr>
        <p:spPr>
          <a:xfrm>
            <a:off x="3355848" y="3017520"/>
            <a:ext cx="64008" cy="82296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34" name="Text 32"/>
          <p:cNvSpPr/>
          <p:nvPr/>
        </p:nvSpPr>
        <p:spPr>
          <a:xfrm>
            <a:off x="3557016" y="31089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 · JS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557016" y="343814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web con pestañas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254496" y="3017520"/>
            <a:ext cx="2651760" cy="82296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419"/>
          </a:p>
        </p:txBody>
      </p:sp>
      <p:sp>
        <p:nvSpPr>
          <p:cNvPr id="37" name="Shape 35"/>
          <p:cNvSpPr/>
          <p:nvPr/>
        </p:nvSpPr>
        <p:spPr>
          <a:xfrm>
            <a:off x="6254496" y="3017520"/>
            <a:ext cx="64008" cy="82296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38" name="Text 36"/>
          <p:cNvSpPr/>
          <p:nvPr/>
        </p:nvSpPr>
        <p:spPr>
          <a:xfrm>
            <a:off x="6455664" y="31089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PyCharm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55664" y="343814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de desarrollo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7200" y="4160520"/>
            <a:ext cx="82296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419"/>
          </a:p>
        </p:txBody>
      </p:sp>
      <p:sp>
        <p:nvSpPr>
          <p:cNvPr id="41" name="Text 39"/>
          <p:cNvSpPr/>
          <p:nvPr/>
        </p:nvSpPr>
        <p:spPr>
          <a:xfrm>
            <a:off x="457200" y="42976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Administración de Bases de Datos Corporativas  ·  Ing. en Sistemas Computacionales  ·  Abril 2026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57200" y="45720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Hernández Marín Juan Carlos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2020</Words>
  <Application>Microsoft Macintosh PowerPoint</Application>
  <PresentationFormat>On-screen Show (16:9)</PresentationFormat>
  <Paragraphs>406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de Canasta Básica mediante Minería de Datos</dc:title>
  <dc:subject>PptxGenJS Presentation</dc:subject>
  <dc:creator>PptxGenJS</dc:creator>
  <cp:lastModifiedBy>Jose Luis Polanco</cp:lastModifiedBy>
  <cp:revision>1</cp:revision>
  <dcterms:created xsi:type="dcterms:W3CDTF">2026-05-11T20:56:09Z</dcterms:created>
  <dcterms:modified xsi:type="dcterms:W3CDTF">2026-05-11T21:02:16Z</dcterms:modified>
</cp:coreProperties>
</file>